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Open Sans Bold" charset="1" panose="00000000000000000000"/>
      <p:regular r:id="rId19"/>
    </p:embeddedFont>
    <p:embeddedFont>
      <p:font typeface="Montserrat Bold" charset="1" panose="00000800000000000000"/>
      <p:regular r:id="rId20"/>
    </p:embeddedFont>
    <p:embeddedFont>
      <p:font typeface="Open Sans" charset="1" panose="000000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906000" y="0"/>
            <a:ext cx="8382000" cy="10287000"/>
          </a:xfrm>
          <a:custGeom>
            <a:avLst/>
            <a:gdLst/>
            <a:ahLst/>
            <a:cxnLst/>
            <a:rect r="r" b="b" t="t" l="l"/>
            <a:pathLst>
              <a:path h="10287000" w="8382000">
                <a:moveTo>
                  <a:pt x="0" y="0"/>
                </a:moveTo>
                <a:lnTo>
                  <a:pt x="8382000" y="0"/>
                </a:lnTo>
                <a:lnTo>
                  <a:pt x="8382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5" r="0" b="-65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8572500" y="0"/>
            <a:ext cx="4953000" cy="10287000"/>
            <a:chOff x="0" y="0"/>
            <a:chExt cx="660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0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6604000">
                  <a:moveTo>
                    <a:pt x="0" y="0"/>
                  </a:moveTo>
                  <a:lnTo>
                    <a:pt x="6604000" y="0"/>
                  </a:lnTo>
                  <a:lnTo>
                    <a:pt x="6604000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0D1117">
                    <a:alpha val="100000"/>
                  </a:srgbClr>
                </a:gs>
                <a:gs pos="100000">
                  <a:srgbClr val="0D1117">
                    <a:alpha val="0"/>
                  </a:srgbClr>
                </a:gs>
              </a:gsLst>
              <a:lin ang="162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60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66800" y="809625"/>
            <a:ext cx="4762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89" b="true">
                <a:solidFill>
                  <a:srgbClr val="14B8A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CARELENS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66800" y="2181225"/>
            <a:ext cx="9906000" cy="3198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73"/>
              </a:lnSpc>
            </a:pPr>
            <a:r>
              <a:rPr lang="en-US" sz="6150" b="true">
                <a:solidFill>
                  <a:srgbClr val="F8FA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Bridging the Gap Between Medical Paperwork and Human Understanding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66800" y="6162675"/>
            <a:ext cx="7429500" cy="366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Your AI-powered personal health copilot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66800" y="8982075"/>
            <a:ext cx="14287500" cy="230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>
                <a:solidFill>
                  <a:srgbClr val="B8C7CF"/>
                </a:solidFill>
                <a:latin typeface="Open Sans"/>
                <a:ea typeface="Open Sans"/>
                <a:cs typeface="Open Sans"/>
                <a:sym typeface="Open Sans"/>
              </a:rPr>
              <a:t>TEAM NAME  ·  TEAM LEAD  ·  MEMBER 1  ·  MEMBER 2  ·  MEMBER 3  ·  MEMBER 4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477500" y="0"/>
            <a:ext cx="7810500" cy="10287000"/>
          </a:xfrm>
          <a:custGeom>
            <a:avLst/>
            <a:gdLst/>
            <a:ahLst/>
            <a:cxnLst/>
            <a:rect r="r" b="b" t="t" l="l"/>
            <a:pathLst>
              <a:path h="10287000" w="7810500">
                <a:moveTo>
                  <a:pt x="0" y="0"/>
                </a:moveTo>
                <a:lnTo>
                  <a:pt x="7810500" y="0"/>
                </a:lnTo>
                <a:lnTo>
                  <a:pt x="78105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" r="0" b="-33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1066800" y="857250"/>
            <a:ext cx="8572500" cy="1285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88"/>
              </a:lnSpc>
            </a:pPr>
            <a:r>
              <a:rPr lang="en-US" sz="4800" b="true">
                <a:solidFill>
                  <a:srgbClr val="1720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Paper Maze of Indian Healthcare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66800" y="3038475"/>
            <a:ext cx="3429000" cy="920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5400" b="true">
                <a:solidFill>
                  <a:srgbClr val="0D948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78%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66800" y="3971925"/>
            <a:ext cx="7239000" cy="366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172033"/>
                </a:solidFill>
                <a:latin typeface="Open Sans"/>
                <a:ea typeface="Open Sans"/>
                <a:cs typeface="Open Sans"/>
                <a:sym typeface="Open Sans"/>
              </a:rPr>
              <a:t>of medical records remain on paper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66800" y="5619750"/>
            <a:ext cx="114300" cy="2857500"/>
            <a:chOff x="0" y="0"/>
            <a:chExt cx="152400" cy="381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24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14B8A6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524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524000" y="5572125"/>
            <a:ext cx="7239000" cy="348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172033"/>
                </a:solidFill>
                <a:latin typeface="Open Sans"/>
                <a:ea typeface="Open Sans"/>
                <a:cs typeface="Open Sans"/>
                <a:sym typeface="Open Sans"/>
              </a:rPr>
              <a:t>WhatsApp photos become the patient record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24000" y="6619875"/>
            <a:ext cx="7239000" cy="348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172033"/>
                </a:solidFill>
                <a:latin typeface="Open Sans"/>
                <a:ea typeface="Open Sans"/>
                <a:cs typeface="Open Sans"/>
                <a:sym typeface="Open Sans"/>
              </a:rPr>
              <a:t>Illegible handwriting creates confusion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24000" y="7667625"/>
            <a:ext cx="7239000" cy="348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172033"/>
                </a:solidFill>
                <a:latin typeface="Open Sans"/>
                <a:ea typeface="Open Sans"/>
                <a:cs typeface="Open Sans"/>
                <a:sym typeface="Open Sans"/>
              </a:rPr>
              <a:t>Unclear information amplifies medical anxiety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2500" y="1143000"/>
            <a:ext cx="7429500" cy="8001000"/>
          </a:xfrm>
          <a:custGeom>
            <a:avLst/>
            <a:gdLst/>
            <a:ahLst/>
            <a:cxnLst/>
            <a:rect r="r" b="b" t="t" l="l"/>
            <a:pathLst>
              <a:path h="8001000" w="7429500">
                <a:moveTo>
                  <a:pt x="0" y="0"/>
                </a:moveTo>
                <a:lnTo>
                  <a:pt x="7429500" y="0"/>
                </a:lnTo>
                <a:lnTo>
                  <a:pt x="7429500" y="8001000"/>
                </a:lnTo>
                <a:lnTo>
                  <a:pt x="0" y="8001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7" r="0" b="-57"/>
            </a:stretch>
          </a:blipFill>
          <a:ln cap="rnd">
            <a:noFill/>
            <a:prstDash val="solid"/>
            <a:round/>
          </a:ln>
        </p:spPr>
      </p:sp>
      <p:sp>
        <p:nvSpPr>
          <p:cNvPr name="TextBox 3" id="3"/>
          <p:cNvSpPr txBox="true"/>
          <p:nvPr/>
        </p:nvSpPr>
        <p:spPr>
          <a:xfrm rot="0">
            <a:off x="9620250" y="914400"/>
            <a:ext cx="7239000" cy="647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88"/>
              </a:lnSpc>
            </a:pPr>
            <a:r>
              <a:rPr lang="en-US" sz="4800" b="true">
                <a:solidFill>
                  <a:srgbClr val="1720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Why Patients Suffer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620250" y="2066925"/>
            <a:ext cx="6667500" cy="747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Paperwork becomes fear when no one translates the meaning.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620250" y="4171950"/>
            <a:ext cx="171450" cy="171450"/>
            <a:chOff x="0" y="0"/>
            <a:chExt cx="228600" cy="228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0D9488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28600" cy="266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096500" y="4067175"/>
            <a:ext cx="5334000" cy="366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172033"/>
                </a:solidFill>
                <a:latin typeface="Open Sans"/>
                <a:ea typeface="Open Sans"/>
                <a:cs typeface="Open Sans"/>
                <a:sym typeface="Open Sans"/>
              </a:rPr>
              <a:t>Complex numbers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096500" y="4619625"/>
            <a:ext cx="5715000" cy="348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Elderly parents struggle to interpret reports.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620250" y="6267450"/>
            <a:ext cx="171450" cy="171450"/>
            <a:chOff x="0" y="0"/>
            <a:chExt cx="228600" cy="228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0D9488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28600" cy="266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096500" y="6162675"/>
            <a:ext cx="5334000" cy="366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172033"/>
                </a:solidFill>
                <a:latin typeface="Open Sans"/>
                <a:ea typeface="Open Sans"/>
                <a:cs typeface="Open Sans"/>
                <a:sym typeface="Open Sans"/>
              </a:rPr>
              <a:t>300,000+ brands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096500" y="6715125"/>
            <a:ext cx="5715000" cy="348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Medicine choice becomes overwhelming.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096500" y="8067675"/>
            <a:ext cx="5334000" cy="366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172033"/>
                </a:solidFill>
                <a:latin typeface="Open Sans"/>
                <a:ea typeface="Open Sans"/>
                <a:cs typeface="Open Sans"/>
                <a:sym typeface="Open Sans"/>
              </a:rPr>
              <a:t>High ≠ hopeless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334750" y="1047750"/>
            <a:ext cx="5429250" cy="8191500"/>
          </a:xfrm>
          <a:custGeom>
            <a:avLst/>
            <a:gdLst/>
            <a:ahLst/>
            <a:cxnLst/>
            <a:rect r="r" b="b" t="t" l="l"/>
            <a:pathLst>
              <a:path h="8191500" w="5429250">
                <a:moveTo>
                  <a:pt x="0" y="0"/>
                </a:moveTo>
                <a:lnTo>
                  <a:pt x="5429250" y="0"/>
                </a:lnTo>
                <a:lnTo>
                  <a:pt x="5429250" y="8191500"/>
                </a:lnTo>
                <a:lnTo>
                  <a:pt x="0" y="8191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1" r="0" b="-21"/>
            </a:stretch>
          </a:blipFill>
          <a:ln cap="rnd">
            <a:noFill/>
            <a:prstDash val="solid"/>
            <a:round/>
          </a:ln>
        </p:spPr>
      </p:sp>
      <p:sp>
        <p:nvSpPr>
          <p:cNvPr name="TextBox 3" id="3"/>
          <p:cNvSpPr txBox="true"/>
          <p:nvPr/>
        </p:nvSpPr>
        <p:spPr>
          <a:xfrm rot="0">
            <a:off x="1066800" y="933450"/>
            <a:ext cx="9334500" cy="1285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88"/>
              </a:lnSpc>
            </a:pPr>
            <a:r>
              <a:rPr lang="en-US" sz="48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Your 24/7 Personal Health Copilot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66800" y="2400300"/>
            <a:ext cx="7429500" cy="366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B9CED2"/>
                </a:solidFill>
                <a:latin typeface="Open Sans"/>
                <a:ea typeface="Open Sans"/>
                <a:cs typeface="Open Sans"/>
                <a:sym typeface="Open Sans"/>
              </a:rPr>
              <a:t>From document to understanding—in moments.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524000" y="4000500"/>
            <a:ext cx="1333500" cy="666750"/>
            <a:chOff x="0" y="0"/>
            <a:chExt cx="1778000" cy="889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78000" cy="889000"/>
            </a:xfrm>
            <a:custGeom>
              <a:avLst/>
              <a:gdLst/>
              <a:ahLst/>
              <a:cxnLst/>
              <a:rect r="r" b="b" t="t" l="l"/>
              <a:pathLst>
                <a:path h="889000" w="1778000">
                  <a:moveTo>
                    <a:pt x="217714" y="0"/>
                  </a:moveTo>
                  <a:lnTo>
                    <a:pt x="1560286" y="0"/>
                  </a:lnTo>
                  <a:cubicBezTo>
                    <a:pt x="1618027" y="0"/>
                    <a:pt x="1673404" y="22938"/>
                    <a:pt x="1714233" y="63767"/>
                  </a:cubicBezTo>
                  <a:cubicBezTo>
                    <a:pt x="1755062" y="104596"/>
                    <a:pt x="1778000" y="159973"/>
                    <a:pt x="1778000" y="217714"/>
                  </a:cubicBezTo>
                  <a:lnTo>
                    <a:pt x="1778000" y="671286"/>
                  </a:lnTo>
                  <a:cubicBezTo>
                    <a:pt x="1778000" y="729027"/>
                    <a:pt x="1755062" y="784404"/>
                    <a:pt x="1714233" y="825233"/>
                  </a:cubicBezTo>
                  <a:cubicBezTo>
                    <a:pt x="1673404" y="866062"/>
                    <a:pt x="1618027" y="889000"/>
                    <a:pt x="1560286" y="889000"/>
                  </a:cubicBezTo>
                  <a:lnTo>
                    <a:pt x="217714" y="889000"/>
                  </a:lnTo>
                  <a:cubicBezTo>
                    <a:pt x="159973" y="889000"/>
                    <a:pt x="104596" y="866062"/>
                    <a:pt x="63767" y="825233"/>
                  </a:cubicBezTo>
                  <a:cubicBezTo>
                    <a:pt x="22938" y="784404"/>
                    <a:pt x="0" y="729027"/>
                    <a:pt x="0" y="671286"/>
                  </a:cubicBezTo>
                  <a:lnTo>
                    <a:pt x="0" y="217714"/>
                  </a:lnTo>
                  <a:cubicBezTo>
                    <a:pt x="0" y="159973"/>
                    <a:pt x="22938" y="104596"/>
                    <a:pt x="63767" y="63767"/>
                  </a:cubicBezTo>
                  <a:cubicBezTo>
                    <a:pt x="104596" y="22938"/>
                    <a:pt x="159973" y="0"/>
                    <a:pt x="217714" y="0"/>
                  </a:cubicBezTo>
                  <a:close/>
                </a:path>
              </a:pathLst>
            </a:custGeom>
            <a:solidFill>
              <a:srgbClr val="0D9488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19050"/>
              <a:ext cx="1778000" cy="86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17203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01</a:t>
              </a:r>
            </a:p>
          </p:txBody>
        </p:sp>
      </p:grpSp>
      <p:sp>
        <p:nvSpPr>
          <p:cNvPr name="AutoShape 8" id="8"/>
          <p:cNvSpPr/>
          <p:nvPr/>
        </p:nvSpPr>
        <p:spPr>
          <a:xfrm>
            <a:off x="3143250" y="4333875"/>
            <a:ext cx="3524250" cy="3000375"/>
          </a:xfrm>
          <a:prstGeom prst="line">
            <a:avLst/>
          </a:prstGeom>
          <a:ln cap="rnd" w="47625">
            <a:solidFill>
              <a:srgbClr val="14B8A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6667500" y="6286500"/>
            <a:ext cx="1333500" cy="666750"/>
            <a:chOff x="0" y="0"/>
            <a:chExt cx="1778000" cy="889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78000" cy="889000"/>
            </a:xfrm>
            <a:custGeom>
              <a:avLst/>
              <a:gdLst/>
              <a:ahLst/>
              <a:cxnLst/>
              <a:rect r="r" b="b" t="t" l="l"/>
              <a:pathLst>
                <a:path h="889000" w="1778000">
                  <a:moveTo>
                    <a:pt x="217714" y="0"/>
                  </a:moveTo>
                  <a:lnTo>
                    <a:pt x="1560286" y="0"/>
                  </a:lnTo>
                  <a:cubicBezTo>
                    <a:pt x="1618027" y="0"/>
                    <a:pt x="1673404" y="22938"/>
                    <a:pt x="1714233" y="63767"/>
                  </a:cubicBezTo>
                  <a:cubicBezTo>
                    <a:pt x="1755062" y="104596"/>
                    <a:pt x="1778000" y="159973"/>
                    <a:pt x="1778000" y="217714"/>
                  </a:cubicBezTo>
                  <a:lnTo>
                    <a:pt x="1778000" y="671286"/>
                  </a:lnTo>
                  <a:cubicBezTo>
                    <a:pt x="1778000" y="729027"/>
                    <a:pt x="1755062" y="784404"/>
                    <a:pt x="1714233" y="825233"/>
                  </a:cubicBezTo>
                  <a:cubicBezTo>
                    <a:pt x="1673404" y="866062"/>
                    <a:pt x="1618027" y="889000"/>
                    <a:pt x="1560286" y="889000"/>
                  </a:cubicBezTo>
                  <a:lnTo>
                    <a:pt x="217714" y="889000"/>
                  </a:lnTo>
                  <a:cubicBezTo>
                    <a:pt x="159973" y="889000"/>
                    <a:pt x="104596" y="866062"/>
                    <a:pt x="63767" y="825233"/>
                  </a:cubicBezTo>
                  <a:cubicBezTo>
                    <a:pt x="22938" y="784404"/>
                    <a:pt x="0" y="729027"/>
                    <a:pt x="0" y="671286"/>
                  </a:cubicBezTo>
                  <a:lnTo>
                    <a:pt x="0" y="217714"/>
                  </a:lnTo>
                  <a:cubicBezTo>
                    <a:pt x="0" y="159973"/>
                    <a:pt x="22938" y="104596"/>
                    <a:pt x="63767" y="63767"/>
                  </a:cubicBezTo>
                  <a:cubicBezTo>
                    <a:pt x="104596" y="22938"/>
                    <a:pt x="159973" y="0"/>
                    <a:pt x="217714" y="0"/>
                  </a:cubicBezTo>
                  <a:close/>
                </a:path>
              </a:pathLst>
            </a:custGeom>
            <a:solidFill>
              <a:srgbClr val="0D9488"/>
            </a:solidFill>
            <a:ln cap="rnd">
              <a:noFill/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19050"/>
              <a:ext cx="1778000" cy="86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17203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02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524000" y="4733925"/>
            <a:ext cx="2857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89" b="true">
                <a:solidFill>
                  <a:srgbClr val="14B8A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UPLOAD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24000" y="5143500"/>
            <a:ext cx="4762500" cy="348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Any prescription or blood test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667500" y="7019925"/>
            <a:ext cx="2857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89" b="true">
                <a:solidFill>
                  <a:srgbClr val="14B8A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UNDERSTAND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667500" y="7429500"/>
            <a:ext cx="4095750" cy="701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Plain-language guidance you can act 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048500" y="1524000"/>
            <a:ext cx="10096500" cy="7239000"/>
          </a:xfrm>
          <a:custGeom>
            <a:avLst/>
            <a:gdLst/>
            <a:ahLst/>
            <a:cxnLst/>
            <a:rect r="r" b="b" t="t" l="l"/>
            <a:pathLst>
              <a:path h="7239000" w="10096500">
                <a:moveTo>
                  <a:pt x="0" y="0"/>
                </a:moveTo>
                <a:lnTo>
                  <a:pt x="10096500" y="0"/>
                </a:lnTo>
                <a:lnTo>
                  <a:pt x="10096500" y="7239000"/>
                </a:lnTo>
                <a:lnTo>
                  <a:pt x="0" y="7239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1" t="0" r="-51" b="0"/>
            </a:stretch>
          </a:blipFill>
          <a:ln cap="rnd">
            <a:noFill/>
            <a:prstDash val="solid"/>
            <a:round/>
          </a:ln>
        </p:spPr>
      </p:sp>
      <p:sp>
        <p:nvSpPr>
          <p:cNvPr name="TextBox 3" id="3"/>
          <p:cNvSpPr txBox="true"/>
          <p:nvPr/>
        </p:nvSpPr>
        <p:spPr>
          <a:xfrm rot="0">
            <a:off x="1066800" y="857250"/>
            <a:ext cx="14763750" cy="647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88"/>
              </a:lnSpc>
            </a:pPr>
            <a:r>
              <a:rPr lang="en-US" sz="4800" b="true">
                <a:solidFill>
                  <a:srgbClr val="1720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Health Made Visual, Not Intimidating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66800" y="2790825"/>
            <a:ext cx="4953000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 b="true">
                <a:solidFill>
                  <a:srgbClr val="0D948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See what your numbers mean.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66800" y="5305425"/>
            <a:ext cx="4095750" cy="366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172033"/>
                </a:solidFill>
                <a:latin typeface="Open Sans"/>
                <a:ea typeface="Open Sans"/>
                <a:cs typeface="Open Sans"/>
                <a:sym typeface="Open Sans"/>
              </a:rPr>
              <a:t>3D Body Twin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66800" y="5857875"/>
            <a:ext cx="4762500" cy="701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Health data mapped to the body—not buried in a table.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66800" y="7496175"/>
            <a:ext cx="4095750" cy="366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172033"/>
                </a:solidFill>
                <a:latin typeface="Open Sans"/>
                <a:ea typeface="Open Sans"/>
                <a:cs typeface="Open Sans"/>
                <a:sym typeface="Open Sans"/>
              </a:rPr>
              <a:t>Dot-sliders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66800" y="8048625"/>
            <a:ext cx="4762500" cy="701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Normal, watch, and act ranges at a glance.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6800" y="857250"/>
            <a:ext cx="14287500" cy="647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88"/>
              </a:lnSpc>
            </a:pPr>
            <a:r>
              <a:rPr lang="en-US" sz="4800" b="true">
                <a:solidFill>
                  <a:srgbClr val="1720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How a Document Turns Into Clarity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66800" y="1685925"/>
            <a:ext cx="10477500" cy="366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A safeguarded pipeline—simple for patients, rigorous underneath.</a:t>
            </a:r>
          </a:p>
        </p:txBody>
      </p:sp>
      <p:sp>
        <p:nvSpPr>
          <p:cNvPr name="AutoShape 4" id="4"/>
          <p:cNvSpPr/>
          <p:nvPr/>
        </p:nvSpPr>
        <p:spPr>
          <a:xfrm>
            <a:off x="2286000" y="5429250"/>
            <a:ext cx="13716000" cy="0"/>
          </a:xfrm>
          <a:prstGeom prst="line">
            <a:avLst/>
          </a:prstGeom>
          <a:ln cap="rnd" w="57150">
            <a:solidFill>
              <a:srgbClr val="DBE5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238250" y="4667250"/>
            <a:ext cx="1524000" cy="1524000"/>
            <a:chOff x="0" y="0"/>
            <a:chExt cx="2032000" cy="2032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320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2032000">
                  <a:moveTo>
                    <a:pt x="190500" y="0"/>
                  </a:moveTo>
                  <a:lnTo>
                    <a:pt x="1841500" y="0"/>
                  </a:lnTo>
                  <a:cubicBezTo>
                    <a:pt x="1946710" y="0"/>
                    <a:pt x="2032000" y="85290"/>
                    <a:pt x="2032000" y="190500"/>
                  </a:cubicBezTo>
                  <a:lnTo>
                    <a:pt x="2032000" y="1841500"/>
                  </a:lnTo>
                  <a:cubicBezTo>
                    <a:pt x="2032000" y="1946710"/>
                    <a:pt x="1946710" y="2032000"/>
                    <a:pt x="1841500" y="2032000"/>
                  </a:cubicBezTo>
                  <a:lnTo>
                    <a:pt x="190500" y="2032000"/>
                  </a:lnTo>
                  <a:cubicBezTo>
                    <a:pt x="85290" y="2032000"/>
                    <a:pt x="0" y="1946710"/>
                    <a:pt x="0" y="1841500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rgbClr val="E6F4EA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19050"/>
              <a:ext cx="2032000" cy="2012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17203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01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238250" y="6257925"/>
            <a:ext cx="3429000" cy="366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172033"/>
                </a:solidFill>
                <a:latin typeface="Open Sans"/>
                <a:ea typeface="Open Sans"/>
                <a:cs typeface="Open Sans"/>
                <a:sym typeface="Open Sans"/>
              </a:rPr>
              <a:t>Upload &amp; Clean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38250" y="6905625"/>
            <a:ext cx="3333750" cy="701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Digitize and prepare documents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5476875" y="4667250"/>
            <a:ext cx="1524000" cy="1524000"/>
            <a:chOff x="0" y="0"/>
            <a:chExt cx="2032000" cy="2032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320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2032000">
                  <a:moveTo>
                    <a:pt x="190500" y="0"/>
                  </a:moveTo>
                  <a:lnTo>
                    <a:pt x="1841500" y="0"/>
                  </a:lnTo>
                  <a:cubicBezTo>
                    <a:pt x="1946710" y="0"/>
                    <a:pt x="2032000" y="85290"/>
                    <a:pt x="2032000" y="190500"/>
                  </a:cubicBezTo>
                  <a:lnTo>
                    <a:pt x="2032000" y="1841500"/>
                  </a:lnTo>
                  <a:cubicBezTo>
                    <a:pt x="2032000" y="1946710"/>
                    <a:pt x="1946710" y="2032000"/>
                    <a:pt x="1841500" y="2032000"/>
                  </a:cubicBezTo>
                  <a:lnTo>
                    <a:pt x="190500" y="2032000"/>
                  </a:lnTo>
                  <a:cubicBezTo>
                    <a:pt x="85290" y="2032000"/>
                    <a:pt x="0" y="1946710"/>
                    <a:pt x="0" y="1841500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rgbClr val="E6F4EA"/>
            </a:solidFill>
            <a:ln cap="rnd">
              <a:noFill/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19050"/>
              <a:ext cx="2032000" cy="2012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17203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02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5476875" y="6257925"/>
            <a:ext cx="3429000" cy="366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172033"/>
                </a:solidFill>
                <a:latin typeface="Open Sans"/>
                <a:ea typeface="Open Sans"/>
                <a:cs typeface="Open Sans"/>
                <a:sym typeface="Open Sans"/>
              </a:rPr>
              <a:t>Privacy Shield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476875" y="6905625"/>
            <a:ext cx="3333750" cy="701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Protect patient data securely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715500" y="4667250"/>
            <a:ext cx="1524000" cy="1524000"/>
            <a:chOff x="0" y="0"/>
            <a:chExt cx="2032000" cy="2032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320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2032000">
                  <a:moveTo>
                    <a:pt x="190500" y="0"/>
                  </a:moveTo>
                  <a:lnTo>
                    <a:pt x="1841500" y="0"/>
                  </a:lnTo>
                  <a:cubicBezTo>
                    <a:pt x="1946710" y="0"/>
                    <a:pt x="2032000" y="85290"/>
                    <a:pt x="2032000" y="190500"/>
                  </a:cubicBezTo>
                  <a:lnTo>
                    <a:pt x="2032000" y="1841500"/>
                  </a:lnTo>
                  <a:cubicBezTo>
                    <a:pt x="2032000" y="1946710"/>
                    <a:pt x="1946710" y="2032000"/>
                    <a:pt x="1841500" y="2032000"/>
                  </a:cubicBezTo>
                  <a:lnTo>
                    <a:pt x="190500" y="2032000"/>
                  </a:lnTo>
                  <a:cubicBezTo>
                    <a:pt x="85290" y="2032000"/>
                    <a:pt x="0" y="1946710"/>
                    <a:pt x="0" y="1841500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rgbClr val="E6F4EA"/>
            </a:solidFill>
            <a:ln cap="rnd">
              <a:noFill/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19050"/>
              <a:ext cx="2032000" cy="2012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17203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03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9715500" y="6257925"/>
            <a:ext cx="3429000" cy="366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172033"/>
                </a:solidFill>
                <a:latin typeface="Open Sans"/>
                <a:ea typeface="Open Sans"/>
                <a:cs typeface="Open Sans"/>
                <a:sym typeface="Open Sans"/>
              </a:rPr>
              <a:t>Smart Reading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715500" y="6905625"/>
            <a:ext cx="3333750" cy="701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AI parses and understands text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3954125" y="4667250"/>
            <a:ext cx="1524000" cy="1524000"/>
            <a:chOff x="0" y="0"/>
            <a:chExt cx="2032000" cy="2032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0320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2032000">
                  <a:moveTo>
                    <a:pt x="190500" y="0"/>
                  </a:moveTo>
                  <a:lnTo>
                    <a:pt x="1841500" y="0"/>
                  </a:lnTo>
                  <a:cubicBezTo>
                    <a:pt x="1946710" y="0"/>
                    <a:pt x="2032000" y="85290"/>
                    <a:pt x="2032000" y="190500"/>
                  </a:cubicBezTo>
                  <a:lnTo>
                    <a:pt x="2032000" y="1841500"/>
                  </a:lnTo>
                  <a:cubicBezTo>
                    <a:pt x="2032000" y="1946710"/>
                    <a:pt x="1946710" y="2032000"/>
                    <a:pt x="1841500" y="2032000"/>
                  </a:cubicBezTo>
                  <a:lnTo>
                    <a:pt x="190500" y="2032000"/>
                  </a:lnTo>
                  <a:cubicBezTo>
                    <a:pt x="85290" y="2032000"/>
                    <a:pt x="0" y="1946710"/>
                    <a:pt x="0" y="1841500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rgbClr val="0D1117"/>
            </a:solidFill>
            <a:ln cap="rnd">
              <a:noFill/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19050"/>
              <a:ext cx="2032000" cy="2012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04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3954125" y="6257925"/>
            <a:ext cx="3429000" cy="366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172033"/>
                </a:solidFill>
                <a:latin typeface="Open Sans"/>
                <a:ea typeface="Open Sans"/>
                <a:cs typeface="Open Sans"/>
                <a:sym typeface="Open Sans"/>
              </a:rPr>
              <a:t>Medical Verification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954125" y="6905625"/>
            <a:ext cx="3333750" cy="701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Expert review ensures accuracy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810500" y="2381250"/>
            <a:ext cx="9334500" cy="6572250"/>
          </a:xfrm>
          <a:custGeom>
            <a:avLst/>
            <a:gdLst/>
            <a:ahLst/>
            <a:cxnLst/>
            <a:rect r="r" b="b" t="t" l="l"/>
            <a:pathLst>
              <a:path h="6572250" w="9334500">
                <a:moveTo>
                  <a:pt x="0" y="0"/>
                </a:moveTo>
                <a:lnTo>
                  <a:pt x="9334500" y="0"/>
                </a:lnTo>
                <a:lnTo>
                  <a:pt x="9334500" y="6572250"/>
                </a:lnTo>
                <a:lnTo>
                  <a:pt x="0" y="6572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3" t="0" r="-23" b="0"/>
            </a:stretch>
          </a:blipFill>
          <a:ln cap="rnd">
            <a:noFill/>
            <a:prstDash val="solid"/>
            <a:round/>
          </a:ln>
        </p:spPr>
      </p:sp>
      <p:sp>
        <p:nvSpPr>
          <p:cNvPr name="TextBox 3" id="3"/>
          <p:cNvSpPr txBox="true"/>
          <p:nvPr/>
        </p:nvSpPr>
        <p:spPr>
          <a:xfrm rot="0">
            <a:off x="1066800" y="885825"/>
            <a:ext cx="13525500" cy="647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88"/>
              </a:lnSpc>
            </a:pPr>
            <a:r>
              <a:rPr lang="en-US" sz="48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Every AI Claim Has a Receipt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66800" y="3267075"/>
            <a:ext cx="5619750" cy="588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0"/>
              </a:lnSpc>
            </a:pPr>
            <a:r>
              <a:rPr lang="en-US" sz="3450" b="true">
                <a:solidFill>
                  <a:srgbClr val="14B8A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Click an explanation.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66800" y="4238625"/>
            <a:ext cx="5429250" cy="1053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C8D6DC"/>
                </a:solidFill>
                <a:latin typeface="Open Sans"/>
                <a:ea typeface="Open Sans"/>
                <a:cs typeface="Open Sans"/>
                <a:sym typeface="Open Sans"/>
              </a:rPr>
              <a:t>CareLens highlights the exact sentence on the original document—so understanding never asks for blind trust.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66800" y="7858125"/>
            <a:ext cx="3048000" cy="666750"/>
            <a:chOff x="0" y="0"/>
            <a:chExt cx="4064000" cy="889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0" cy="889000"/>
            </a:xfrm>
            <a:custGeom>
              <a:avLst/>
              <a:gdLst/>
              <a:ahLst/>
              <a:cxnLst/>
              <a:rect r="r" b="b" t="t" l="l"/>
              <a:pathLst>
                <a:path h="889000" w="4064000">
                  <a:moveTo>
                    <a:pt x="95250" y="0"/>
                  </a:moveTo>
                  <a:lnTo>
                    <a:pt x="3968750" y="0"/>
                  </a:lnTo>
                  <a:cubicBezTo>
                    <a:pt x="4021355" y="0"/>
                    <a:pt x="4064000" y="42645"/>
                    <a:pt x="4064000" y="95250"/>
                  </a:cubicBezTo>
                  <a:lnTo>
                    <a:pt x="4064000" y="793750"/>
                  </a:lnTo>
                  <a:cubicBezTo>
                    <a:pt x="4064000" y="846355"/>
                    <a:pt x="4021355" y="889000"/>
                    <a:pt x="3968750" y="889000"/>
                  </a:cubicBezTo>
                  <a:lnTo>
                    <a:pt x="95250" y="889000"/>
                  </a:lnTo>
                  <a:cubicBezTo>
                    <a:pt x="42645" y="889000"/>
                    <a:pt x="0" y="846355"/>
                    <a:pt x="0" y="793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0D9488"/>
            </a:soli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19050"/>
              <a:ext cx="4064000" cy="86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17203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SOURCE VERIFIED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66800" y="7210425"/>
            <a:ext cx="5334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8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SPLIT-SCREEN VERIFICATION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6800" y="857250"/>
            <a:ext cx="14287500" cy="647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88"/>
              </a:lnSpc>
            </a:pPr>
            <a:r>
              <a:rPr lang="en-US" sz="4800" b="true">
                <a:solidFill>
                  <a:srgbClr val="1720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Why You Can Trust CareLens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14500" y="3486150"/>
            <a:ext cx="5715000" cy="1574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56"/>
              </a:lnSpc>
            </a:pPr>
            <a:r>
              <a:rPr lang="en-US" sz="6375" b="true">
                <a:solidFill>
                  <a:srgbClr val="0D948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ZERO</a:t>
            </a:r>
          </a:p>
          <a:p>
            <a:pPr algn="l">
              <a:lnSpc>
                <a:spcPts val="6056"/>
              </a:lnSpc>
            </a:pPr>
            <a:r>
              <a:rPr lang="en-US" sz="6375" b="true">
                <a:solidFill>
                  <a:srgbClr val="0D948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GUESSWORK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2476500" y="6191250"/>
            <a:ext cx="2857500" cy="2476500"/>
            <a:chOff x="0" y="0"/>
            <a:chExt cx="3810000" cy="3302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304800" y="0"/>
              <a:ext cx="3200400" cy="3302000"/>
            </a:xfrm>
            <a:custGeom>
              <a:avLst/>
              <a:gdLst/>
              <a:ahLst/>
              <a:cxnLst/>
              <a:rect r="r" b="b" t="t" l="l"/>
              <a:pathLst>
                <a:path h="3302000" w="3200400">
                  <a:moveTo>
                    <a:pt x="1600200" y="0"/>
                  </a:moveTo>
                  <a:lnTo>
                    <a:pt x="3200400" y="528320"/>
                  </a:lnTo>
                  <a:lnTo>
                    <a:pt x="2971800" y="2113280"/>
                  </a:lnTo>
                  <a:cubicBezTo>
                    <a:pt x="2819400" y="2707640"/>
                    <a:pt x="2286000" y="3103880"/>
                    <a:pt x="1600200" y="3302000"/>
                  </a:cubicBezTo>
                  <a:cubicBezTo>
                    <a:pt x="914400" y="3103880"/>
                    <a:pt x="381000" y="2707640"/>
                    <a:pt x="228600" y="2113280"/>
                  </a:cubicBezTo>
                  <a:lnTo>
                    <a:pt x="0" y="528320"/>
                  </a:lnTo>
                  <a:close/>
                </a:path>
              </a:pathLst>
            </a:custGeom>
            <a:solidFill>
              <a:srgbClr val="0D1117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3810000" cy="3349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9"/>
                </a:lnSpc>
              </a:pPr>
              <a:r>
                <a:rPr lang="en-US" sz="225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SAFE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334500" y="3209925"/>
            <a:ext cx="6191250" cy="366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172033"/>
                </a:solidFill>
                <a:latin typeface="Open Sans"/>
                <a:ea typeface="Open Sans"/>
                <a:cs typeface="Open Sans"/>
                <a:sym typeface="Open Sans"/>
              </a:rPr>
              <a:t>Deterministic rule engine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334500" y="3857625"/>
            <a:ext cx="6000750" cy="701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Checks normal vs abnormal values against explicit rules.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334500" y="5686425"/>
            <a:ext cx="6191250" cy="366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172033"/>
                </a:solidFill>
                <a:latin typeface="Open Sans"/>
                <a:ea typeface="Open Sans"/>
                <a:cs typeface="Open Sans"/>
                <a:sym typeface="Open Sans"/>
              </a:rPr>
              <a:t>Guide, never prescribe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334500" y="6334125"/>
            <a:ext cx="6000750" cy="701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We never guess. We explain safely and direct patients to qualified care.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8572500" cy="10287000"/>
          </a:xfrm>
          <a:custGeom>
            <a:avLst/>
            <a:gdLst/>
            <a:ahLst/>
            <a:cxnLst/>
            <a:rect r="r" b="b" t="t" l="l"/>
            <a:pathLst>
              <a:path h="10287000" w="8572500">
                <a:moveTo>
                  <a:pt x="0" y="0"/>
                </a:moveTo>
                <a:lnTo>
                  <a:pt x="8572500" y="0"/>
                </a:lnTo>
                <a:lnTo>
                  <a:pt x="85725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0" r="0" b="-5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9620250" y="933450"/>
            <a:ext cx="7239000" cy="1285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88"/>
              </a:lnSpc>
            </a:pPr>
            <a:r>
              <a:rPr lang="en-US" sz="4800" b="true">
                <a:solidFill>
                  <a:srgbClr val="1720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Democratizing Health for Every Indian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620250" y="2924175"/>
            <a:ext cx="6667500" cy="747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Understanding should never depend on English literacy.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620250" y="4810125"/>
            <a:ext cx="6477000" cy="952500"/>
            <a:chOff x="0" y="0"/>
            <a:chExt cx="8636000" cy="127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636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8636000">
                  <a:moveTo>
                    <a:pt x="0" y="0"/>
                  </a:moveTo>
                  <a:lnTo>
                    <a:pt x="8636000" y="0"/>
                  </a:lnTo>
                  <a:lnTo>
                    <a:pt x="8636000" y="1270000"/>
                  </a:lnTo>
                  <a:lnTo>
                    <a:pt x="0" y="1270000"/>
                  </a:lnTo>
                  <a:close/>
                </a:path>
              </a:pathLst>
            </a:custGeom>
            <a:solidFill>
              <a:srgbClr val="E6F4EA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6360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001250" y="4905375"/>
            <a:ext cx="495300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2850" b="true">
                <a:solidFill>
                  <a:srgbClr val="17203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తెలుగులో స్పష్టత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620250" y="6143625"/>
            <a:ext cx="6477000" cy="952500"/>
            <a:chOff x="0" y="0"/>
            <a:chExt cx="8636000" cy="127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636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8636000">
                  <a:moveTo>
                    <a:pt x="0" y="0"/>
                  </a:moveTo>
                  <a:lnTo>
                    <a:pt x="8636000" y="0"/>
                  </a:lnTo>
                  <a:lnTo>
                    <a:pt x="8636000" y="1270000"/>
                  </a:lnTo>
                  <a:lnTo>
                    <a:pt x="0" y="1270000"/>
                  </a:lnTo>
                  <a:close/>
                </a:path>
              </a:pathLst>
            </a:custGeom>
            <a:solidFill>
              <a:srgbClr val="FEF3E0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86360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0001250" y="6238875"/>
            <a:ext cx="495300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2850" b="true">
                <a:solidFill>
                  <a:srgbClr val="17203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हिंदी में स्पष्टता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001250" y="7858125"/>
            <a:ext cx="5715000" cy="348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0D9488"/>
                </a:solidFill>
                <a:latin typeface="Open Sans"/>
                <a:ea typeface="Open Sans"/>
                <a:cs typeface="Open Sans"/>
                <a:sym typeface="Open Sans"/>
              </a:rPr>
              <a:t>Audio playback for elderly and rural users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001250" y="1047750"/>
            <a:ext cx="6191250" cy="8096250"/>
          </a:xfrm>
          <a:custGeom>
            <a:avLst/>
            <a:gdLst/>
            <a:ahLst/>
            <a:cxnLst/>
            <a:rect r="r" b="b" t="t" l="l"/>
            <a:pathLst>
              <a:path h="8096250" w="6191250">
                <a:moveTo>
                  <a:pt x="0" y="0"/>
                </a:moveTo>
                <a:lnTo>
                  <a:pt x="6191250" y="0"/>
                </a:lnTo>
                <a:lnTo>
                  <a:pt x="6191250" y="8096250"/>
                </a:lnTo>
                <a:lnTo>
                  <a:pt x="0" y="8096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2" r="0" b="-62"/>
            </a:stretch>
          </a:blipFill>
          <a:ln cap="rnd">
            <a:noFill/>
            <a:prstDash val="solid"/>
            <a:round/>
          </a:ln>
        </p:spPr>
      </p:sp>
      <p:sp>
        <p:nvSpPr>
          <p:cNvPr name="TextBox 3" id="3"/>
          <p:cNvSpPr txBox="true"/>
          <p:nvPr/>
        </p:nvSpPr>
        <p:spPr>
          <a:xfrm rot="0">
            <a:off x="1066800" y="933450"/>
            <a:ext cx="8096250" cy="1285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88"/>
              </a:lnSpc>
            </a:pPr>
            <a:r>
              <a:rPr lang="en-US" sz="48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One Health Record For Life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66800" y="2638425"/>
            <a:ext cx="6667500" cy="366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BFD0D5"/>
                </a:solidFill>
                <a:latin typeface="Open Sans"/>
                <a:ea typeface="Open Sans"/>
                <a:cs typeface="Open Sans"/>
                <a:sym typeface="Open Sans"/>
              </a:rPr>
              <a:t>Portable. Shareable. Standards-ready.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66800" y="5048250"/>
            <a:ext cx="228600" cy="228600"/>
            <a:chOff x="0" y="0"/>
            <a:chExt cx="304800" cy="304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14B8A6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048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619250" y="4924425"/>
            <a:ext cx="5905500" cy="366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ABHA Digital Card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19250" y="5524500"/>
            <a:ext cx="5715000" cy="348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BFD0D5"/>
                </a:solidFill>
                <a:latin typeface="Open Sans"/>
                <a:ea typeface="Open Sans"/>
                <a:cs typeface="Open Sans"/>
                <a:sym typeface="Open Sans"/>
              </a:rPr>
              <a:t>QR-enabled access for instant sharing.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66800" y="7239000"/>
            <a:ext cx="228600" cy="228600"/>
            <a:chOff x="0" y="0"/>
            <a:chExt cx="304800" cy="304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14B8A6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048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619250" y="7115175"/>
            <a:ext cx="5905500" cy="366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ABDM FHIR export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19250" y="7715250"/>
            <a:ext cx="6191250" cy="348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BFD0D5"/>
                </a:solidFill>
                <a:latin typeface="Open Sans"/>
                <a:ea typeface="Open Sans"/>
                <a:cs typeface="Open Sans"/>
                <a:sym typeface="Open Sans"/>
              </a:rPr>
              <a:t>One click to interoperable government standards.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144000" cy="5334000"/>
          </a:xfrm>
          <a:custGeom>
            <a:avLst/>
            <a:gdLst/>
            <a:ahLst/>
            <a:cxnLst/>
            <a:rect r="r" b="b" t="t" l="l"/>
            <a:pathLst>
              <a:path h="5334000" w="9144000">
                <a:moveTo>
                  <a:pt x="0" y="0"/>
                </a:moveTo>
                <a:lnTo>
                  <a:pt x="9144000" y="0"/>
                </a:lnTo>
                <a:lnTo>
                  <a:pt x="9144000" y="5334000"/>
                </a:lnTo>
                <a:lnTo>
                  <a:pt x="0" y="5334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" t="0" r="-71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0"/>
            <a:ext cx="9144000" cy="5334000"/>
          </a:xfrm>
          <a:custGeom>
            <a:avLst/>
            <a:gdLst/>
            <a:ahLst/>
            <a:cxnLst/>
            <a:rect r="r" b="b" t="t" l="l"/>
            <a:pathLst>
              <a:path h="5334000" w="9144000">
                <a:moveTo>
                  <a:pt x="0" y="0"/>
                </a:moveTo>
                <a:lnTo>
                  <a:pt x="9144000" y="0"/>
                </a:lnTo>
                <a:lnTo>
                  <a:pt x="9144000" y="5334000"/>
                </a:lnTo>
                <a:lnTo>
                  <a:pt x="0" y="5334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1" t="0" r="-71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1066800" y="5886450"/>
            <a:ext cx="14287500" cy="647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88"/>
              </a:lnSpc>
            </a:pPr>
            <a:r>
              <a:rPr lang="en-US" sz="4800" b="true">
                <a:solidFill>
                  <a:srgbClr val="1720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From City Clinics to Rural Villages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66800" y="7400925"/>
            <a:ext cx="42862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89" b="true">
                <a:solidFill>
                  <a:srgbClr val="0D948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ANY SMARTPHONE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66800" y="7810500"/>
            <a:ext cx="4286250" cy="348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172033"/>
                </a:solidFill>
                <a:latin typeface="Open Sans"/>
                <a:ea typeface="Open Sans"/>
                <a:cs typeface="Open Sans"/>
                <a:sym typeface="Open Sans"/>
              </a:rPr>
              <a:t>No special hardware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953250" y="7400925"/>
            <a:ext cx="42862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89" b="true">
                <a:solidFill>
                  <a:srgbClr val="0D948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INSTANT RESPONSE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953250" y="7810500"/>
            <a:ext cx="4286250" cy="348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172033"/>
                </a:solidFill>
                <a:latin typeface="Open Sans"/>
                <a:ea typeface="Open Sans"/>
                <a:cs typeface="Open Sans"/>
                <a:sym typeface="Open Sans"/>
              </a:rPr>
              <a:t>Zero-latency cloud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858750" y="7400925"/>
            <a:ext cx="40957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89" b="true">
                <a:solidFill>
                  <a:srgbClr val="0D948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PRIVACY FIRST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858750" y="7810500"/>
            <a:ext cx="4286250" cy="348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172033"/>
                </a:solidFill>
                <a:latin typeface="Open Sans"/>
                <a:ea typeface="Open Sans"/>
                <a:cs typeface="Open Sans"/>
                <a:sym typeface="Open Sans"/>
              </a:rPr>
              <a:t>Patient rights respected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81500" y="2286000"/>
            <a:ext cx="9525000" cy="6477000"/>
          </a:xfrm>
          <a:custGeom>
            <a:avLst/>
            <a:gdLst/>
            <a:ahLst/>
            <a:cxnLst/>
            <a:rect r="r" b="b" t="t" l="l"/>
            <a:pathLst>
              <a:path h="6477000" w="9525000">
                <a:moveTo>
                  <a:pt x="0" y="0"/>
                </a:moveTo>
                <a:lnTo>
                  <a:pt x="9525000" y="0"/>
                </a:lnTo>
                <a:lnTo>
                  <a:pt x="9525000" y="6477000"/>
                </a:lnTo>
                <a:lnTo>
                  <a:pt x="0" y="647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2" t="0" r="-92" b="0"/>
            </a:stretch>
          </a:blipFill>
          <a:ln cap="rnd">
            <a:noFill/>
            <a:prstDash val="solid"/>
            <a:round/>
          </a:ln>
        </p:spPr>
      </p:sp>
      <p:sp>
        <p:nvSpPr>
          <p:cNvPr name="TextBox 3" id="3"/>
          <p:cNvSpPr txBox="true"/>
          <p:nvPr/>
        </p:nvSpPr>
        <p:spPr>
          <a:xfrm rot="0">
            <a:off x="1066800" y="742950"/>
            <a:ext cx="10001250" cy="647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88"/>
              </a:lnSpc>
            </a:pPr>
            <a:r>
              <a:rPr lang="en-US" sz="48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CareLens in Action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66800" y="1400175"/>
            <a:ext cx="8572500" cy="366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14B8A6"/>
                </a:solidFill>
                <a:latin typeface="Open Sans"/>
                <a:ea typeface="Open Sans"/>
                <a:cs typeface="Open Sans"/>
                <a:sym typeface="Open Sans"/>
              </a:rPr>
              <a:t>Live System Walkthrough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905500" y="9115425"/>
            <a:ext cx="6667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b="true" sz="1500" spc="8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WATCH THE PAPER BECOME CLARITY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096250" y="0"/>
            <a:ext cx="10191750" cy="10287000"/>
          </a:xfrm>
          <a:custGeom>
            <a:avLst/>
            <a:gdLst/>
            <a:ahLst/>
            <a:cxnLst/>
            <a:rect r="r" b="b" t="t" l="l"/>
            <a:pathLst>
              <a:path h="10287000" w="10191750">
                <a:moveTo>
                  <a:pt x="0" y="0"/>
                </a:moveTo>
                <a:lnTo>
                  <a:pt x="10191750" y="0"/>
                </a:lnTo>
                <a:lnTo>
                  <a:pt x="101917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7" r="0" b="-37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6667500" y="0"/>
            <a:ext cx="5715000" cy="10287000"/>
            <a:chOff x="0" y="0"/>
            <a:chExt cx="7620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620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7620000">
                  <a:moveTo>
                    <a:pt x="0" y="0"/>
                  </a:moveTo>
                  <a:lnTo>
                    <a:pt x="7620000" y="0"/>
                  </a:lnTo>
                  <a:lnTo>
                    <a:pt x="7620000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0D1117">
                    <a:alpha val="100000"/>
                  </a:srgbClr>
                </a:gs>
                <a:gs pos="100000">
                  <a:srgbClr val="0D1117">
                    <a:alpha val="0"/>
                  </a:srgbClr>
                </a:gs>
              </a:gsLst>
              <a:lin ang="162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7620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66800" y="1628775"/>
            <a:ext cx="9239250" cy="2407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73"/>
              </a:lnSpc>
            </a:pPr>
            <a:r>
              <a:rPr lang="en-US" sz="61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Empowering 1.4 Billion People with Clarity and Care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66800" y="6315075"/>
            <a:ext cx="7143750" cy="53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9"/>
              </a:lnSpc>
            </a:pPr>
            <a:r>
              <a:rPr lang="en-US" sz="3150" b="true">
                <a:solidFill>
                  <a:srgbClr val="14B8A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you. Questions?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66800" y="9010650"/>
            <a:ext cx="8572500" cy="27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B9C8CF"/>
                </a:solidFill>
                <a:latin typeface="Open Sans"/>
                <a:ea typeface="Open Sans"/>
                <a:cs typeface="Open Sans"/>
                <a:sym typeface="Open Sans"/>
              </a:rPr>
              <a:t>TEAM NAME  ·  hello@carelens.health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DAHX48BYK7c</dc:identifier>
  <dcterms:modified xsi:type="dcterms:W3CDTF">2011-08-01T06:04:30Z</dcterms:modified>
  <cp:revision>1</cp:revision>
  <dc:title>CareLens Health Copilot</dc:title>
</cp:coreProperties>
</file>